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Urbanist SemiBold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  <p:embeddedFont>
      <p:font typeface="Urbanist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5.xml"/><Relationship Id="rId42" Type="http://schemas.openxmlformats.org/officeDocument/2006/relationships/font" Target="fonts/UrbanistExtraBold-boldItalic.fntdata"/><Relationship Id="rId41" Type="http://schemas.openxmlformats.org/officeDocument/2006/relationships/font" Target="fonts/UrbanistExtraBold-bold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UrbanistSemiBold-italic.fntdata"/><Relationship Id="rId12" Type="http://schemas.openxmlformats.org/officeDocument/2006/relationships/slide" Target="slides/slide7.xml"/><Relationship Id="rId34" Type="http://schemas.openxmlformats.org/officeDocument/2006/relationships/font" Target="fonts/UrbanistSemiBold-bold.fntdata"/><Relationship Id="rId15" Type="http://schemas.openxmlformats.org/officeDocument/2006/relationships/slide" Target="slides/slide10.xml"/><Relationship Id="rId37" Type="http://schemas.openxmlformats.org/officeDocument/2006/relationships/font" Target="fonts/Urbanist-regular.fntdata"/><Relationship Id="rId14" Type="http://schemas.openxmlformats.org/officeDocument/2006/relationships/slide" Target="slides/slide9.xml"/><Relationship Id="rId36" Type="http://schemas.openxmlformats.org/officeDocument/2006/relationships/font" Target="fonts/Urbanist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Urbanist-italic.fntdata"/><Relationship Id="rId16" Type="http://schemas.openxmlformats.org/officeDocument/2006/relationships/slide" Target="slides/slide11.xml"/><Relationship Id="rId38" Type="http://schemas.openxmlformats.org/officeDocument/2006/relationships/font" Target="fonts/Urbanis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aa4afc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aa4afcb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aa00aad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daa00aad5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zp8amUeG3RleuLzWyO2Y1zPuEDsrHdvW/view" TargetMode="External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2875" y="2476500"/>
            <a:ext cx="119062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Sistema Visual: Corretor de </a:t>
            </a:r>
            <a:r>
              <a:rPr b="1" i="0" lang="en-US" sz="5250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Gabaritos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5750" y="3448050"/>
            <a:ext cx="11620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Trabalho Final (MCZA018) — Equipe 9: Eduardo Carrilho &amp; Gabriel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1550193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Avaliações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impressas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continuam sendo o padrão absoluto no ensino.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369343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Correção manual demanda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esforço operacional extremo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dos professores.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88493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Escolas médias não possuem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scanners industriais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alto custo.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007643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Soluções no mercado fogem da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realidade financeira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comum.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826793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Falta de ferramentas gera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atraso no feedback pedagógico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Contexto Educacional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29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40744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22659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404574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486489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0893" y="1828200"/>
            <a:ext cx="5488500" cy="3201600"/>
          </a:xfrm>
          <a:prstGeom prst="roundRect">
            <a:avLst>
              <a:gd fmla="val 815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85750" y="2588418"/>
            <a:ext cx="3771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EA5E9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100%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85750" y="4255293"/>
            <a:ext cx="37719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Trabalho Manual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924425" y="2336006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Professor atua como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corretor mecânico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em vez de educador.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924425" y="2840831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Tarefas repetitivas causam alta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fadiga visual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924425" y="3345656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Cansaço eleva a margem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erro humano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nas contagens.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924425" y="3850481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Tempo de planejamento de aulas é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sacrificado pela correção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924425" y="4355306"/>
            <a:ext cx="6981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aluno perde a oportunidade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correção de rota rápida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O Gargalo Operacional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237410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287893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338375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388858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4393406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2359818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Criar um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Sistema de Processamento Visual (SPV)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voltado a leigos.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893218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Possibilitar a correção utilizando apenas uma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webcam convencional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426618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Fornecer os resultados das provas de forma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imediata (on-the-fly)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3960018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Garantir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robustez de processamento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em iluminação não ideal.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493418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Automatizar a digitalização das notas sem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hardware dedicado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9981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45315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440906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Objetivos do Projeto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3979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9313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4647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37410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290750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50" y="397430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750" y="4507706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549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3349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33400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Sombras Severas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33400" y="3583781"/>
            <a:ext cx="31877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Salas de aula possuem iluminação mista, criando gradientes de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luz e sombra no papel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que quebram algoritmos simples.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502199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Filtro CLAHE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502199" y="3583781"/>
            <a:ext cx="3187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Equaliza o histograma dividindo a imagem em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pequenos blocos (grids)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corrigindo o contraste localmente.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70999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Threshold Adaptativo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70999" y="3583781"/>
            <a:ext cx="31877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Binariza a imagem considerando a vizinhança Gaussiana, garantindo distinção entre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caneta e papel branco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49793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2199" y="249793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49793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Teoria I: Iluminação e Contraste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5550693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Teoria II: Geometria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57250" y="152876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usuário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nunca alinha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perfeitamente o papel.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57250" y="2033587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Sistema procura por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 âncoras pretas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(marcas de registro).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2852737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Calcula-se a matriz matemática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Homografia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335756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Aplica-se a função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Warp Perspective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3862387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imagem é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'achatada'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um retângulo fixo de 600x800px.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4681537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Permite corrigir provas em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quase qualquer inclinação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68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08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956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04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196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4357" y="0"/>
            <a:ext cx="498763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290637"/>
            <a:ext cx="5572125" cy="4614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90637"/>
            <a:ext cx="5572125" cy="4614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76275" y="1681162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Dilatação Morfológica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724650" y="1681162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Algoritmo Watershed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62025" y="21478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Alunos frequentemente preenchem os círculos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forma falha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62025" y="29670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dilatação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expande os pixels pretos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 marcação.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62025" y="3786187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Fecha os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'buracos' internos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dos traços de caneta.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62025" y="4291012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Aumenta a precisão na etapa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contagem de área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010400" y="21478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Bolhas fortemente marcadas podem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encostar umas nas outras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010400" y="29670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 como um mapeamento de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topografia computacional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010400" y="37861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Usa a transformação de distância para achar os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centros das bolhas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010400" y="46053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Separa com precisão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marcações fundidas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 papel.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Teoria III: Morfologia e Segmentação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1859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0051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8242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3291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1859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0051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8242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64343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285750" y="3674268"/>
            <a:ext cx="116205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18933" y="3979068"/>
            <a:ext cx="28062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Aquisição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285750" y="4398168"/>
            <a:ext cx="267265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Captura BGR e suavização inicial Gaussiana.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3201449" y="2474118"/>
            <a:ext cx="28062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Alinhamento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3268265" y="2893218"/>
            <a:ext cx="267265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Extração das âncoras, travamento do alvo e homografia.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183964" y="3979068"/>
            <a:ext cx="28062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Segmentação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250781" y="4398168"/>
            <a:ext cx="267265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Aplicação de CLAHE, Thresholding e Filtros Morfológicos.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166480" y="2474118"/>
            <a:ext cx="28062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Extração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233296" y="2893218"/>
            <a:ext cx="267265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Cálculo de densidade de pixels e validação bit-a-bit.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526827" y="3598068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509343" y="3598068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491858" y="3598068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0474374" y="3598068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Pipeline do Sistema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1864518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Código integralmente construído em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Python 3.10+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2369343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Processamento vetorial suportado pela biblioteca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Numpy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2874168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Técnicas de PDI aplicadas nativamente via API do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OpenCV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71500" y="3693318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Interface interativa: sistema avisa quando 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mira travou no alvo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571500" y="4512468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Avaliação ignora automaticamente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ruídos menores que 500px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Arquitetura de Software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9026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40744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91226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73141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455056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7650" y="1390950"/>
            <a:ext cx="5704800" cy="4881000"/>
          </a:xfrm>
          <a:prstGeom prst="roundRect">
            <a:avLst>
              <a:gd fmla="val 417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549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3349" y="2126456"/>
            <a:ext cx="3683049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33400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Caminho Feliz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33400" y="3583781"/>
            <a:ext cx="3187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Os voluntários preencheram o gabarito perfeitamente e validaram a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correção ideal do algoritmo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4502199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Tratamento de Erros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4502199" y="3583781"/>
            <a:ext cx="31877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Testaram dupla marcação e questões em branco. O sistema detectou como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'ANULADA'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ou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'BRANCO'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470999" y="3117056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Robustez a Ângulo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470999" y="3583781"/>
            <a:ext cx="31877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Posicionaram o papel de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forma severamente inclinada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atestando a eficiência da matriz matemática.</a:t>
            </a:r>
            <a:endParaRPr/>
          </a:p>
        </p:txBody>
      </p:sp>
      <p:pic>
        <p:nvPicPr>
          <p:cNvPr descr="image.png" id="265" name="Google Shape;26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249793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2199" y="249793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49793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Laboratório Experimental (LEx)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290637"/>
            <a:ext cx="11620500" cy="461486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285750" y="4526756"/>
            <a:ext cx="1162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Foram realizados testes com 8 voluntários. O sistema atingiu nota máxima em métricas positivas e obteve a nota mais baixa possível (1.0) no quesito 'Complexidade', demonstrando sua eficácia para usuários leigos.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Resultados Quantitativos (Escala SUS)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290637"/>
            <a:ext cx="5572125" cy="4614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90637"/>
            <a:ext cx="5572125" cy="461486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676275" y="1681162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Pontos de Destaque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724650" y="1681162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Limitações Observadas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962025" y="21478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mensagem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"ALVO TRAVADO"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passou extrema segurança ao usuário.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962025" y="2967037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Binarização suportou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sombras fortes e reflexos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962025" y="3471862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Tratamento perfeito para marcações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rasuradas ou ausentes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962025" y="4291012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Processamento da nota ocorreu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sem atrasos perceptíveis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7010400" y="21478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Usuário é obrigado a manter a folha na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orientação vertical correta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010400" y="29670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Não suporta leitura se o gabarito for virado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 ponta-cabeça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7010400" y="37861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Ângulos de visão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excessivamente rasantes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falham o travamento.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7010400" y="460533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Depende do enquadramento total dos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 cantos geométricos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285750" y="333375"/>
            <a:ext cx="11906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Análise Qualitativa</a:t>
            </a:r>
            <a:endParaRPr/>
          </a:p>
        </p:txBody>
      </p:sp>
      <p:pic>
        <p:nvPicPr>
          <p:cNvPr descr="image.png" id="297" name="Google Shape;29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1859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0051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5099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3291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1859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0051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8242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64343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0117"/>
            <a:ext cx="5372101" cy="4239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90117"/>
            <a:ext cx="5372101" cy="423981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876300" y="2280642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Metas Atingidas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534150" y="2280642"/>
            <a:ext cx="339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Robustez Comprovada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209675" y="3014067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Correção manual substituída por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digital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209675" y="3922514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Sombras mitigadas pela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binarização adaptativa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209675" y="4830960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Perspectiva da folha estabilizada por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marcas de registro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6867525" y="3014067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Sistema identifica perfeitamente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questões rasuradas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6867525" y="3922514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Algoritmo filtra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falsos positivos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(rabiscos ou poeira).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867525" y="4830960"/>
            <a:ext cx="444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Solução demonstrou alta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viabilidade escolar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prática.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Conclusões do Projeto</a:t>
            </a:r>
            <a:endParaRPr/>
          </a:p>
        </p:txBody>
      </p:sp>
      <p:pic>
        <p:nvPicPr>
          <p:cNvPr descr="image.png" id="321" name="Google Shape;32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03311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94156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85001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03311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94156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485001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142800" y="135162"/>
            <a:ext cx="1190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Vídeo Demonstrativo</a:t>
            </a:r>
            <a:endParaRPr/>
          </a:p>
        </p:txBody>
      </p:sp>
      <p:pic>
        <p:nvPicPr>
          <p:cNvPr id="334" name="Google Shape;334;p26" title="WhatsApp Video 2026-04-28 at 18.39.57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0" y="17145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7"/>
          <p:cNvSpPr/>
          <p:nvPr/>
        </p:nvSpPr>
        <p:spPr>
          <a:xfrm>
            <a:off x="0" y="0"/>
            <a:ext cx="12192000" cy="47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142875" y="2395537"/>
            <a:ext cx="1190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Perguntas?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285750" y="3500437"/>
            <a:ext cx="116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Muito obrigado pela atenção e avaliação do nosso projeto.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285750" y="5714137"/>
            <a:ext cx="11620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Gabriel Figueiredo de Souza - RA: 11202230332</a:t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Eduardo Carrilho - RA: 11201812084</a:t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